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3" Type="http://schemas.openxmlformats.org/officeDocument/2006/relationships/slide" Target="slides/slide10.xml"/><Relationship Id="rId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92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90.png"/><Relationship Id="rId20" Type="http://schemas.openxmlformats.org/officeDocument/2006/relationships/image" Target="../media/image91.png"/><Relationship Id="rId21" Type="http://schemas.openxmlformats.org/officeDocument/2006/relationships/image" Target="../media/image93.png"/><Relationship Id="rId22" Type="http://schemas.openxmlformats.org/officeDocument/2006/relationships/image" Target="../media/image9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Relationship Id="rId11" Type="http://schemas.openxmlformats.org/officeDocument/2006/relationships/image" Target="../media/image1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Relationship Id="rId3" Type="http://schemas.openxmlformats.org/officeDocument/2006/relationships/image" Target="../media/image141.png"/><Relationship Id="rId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4" y="5682530"/>
            <a:ext cx="570833" cy="751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875" y="445103"/>
            <a:ext cx="506733" cy="35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9196" y="2038254"/>
            <a:ext cx="9755028" cy="54654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0"/>
              </a:lnSpc>
              <a:spcBef>
                <a:spcPts val="0"/>
              </a:spcBef>
              <a:spcAft>
                <a:spcPts val="0"/>
              </a:spcAft>
            </a:pPr>
            <a:r>
              <a:rPr sz="3825" b="1" i="0">
                <a:solidFill>
                  <a:srgbClr val="01123C"/>
                </a:solidFill>
                <a:latin typeface="Noto Sans SC"/>
                <a:ea typeface="Noto Sans SC"/>
              </a:rPr>
              <a:t>2020版与2025版高中数学课程标准对比分析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9896" y="2867977"/>
            <a:ext cx="6202965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97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3D3F43"/>
                </a:solidFill>
                <a:latin typeface="Noto Sans SC"/>
                <a:ea typeface="Noto Sans SC"/>
              </a:rPr>
              <a:t>基于实践调研的修订逻辑与核心变化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6006" y="5779579"/>
            <a:ext cx="1361312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92B2D"/>
                </a:solidFill>
                <a:latin typeface="Noto Sans SC"/>
                <a:ea typeface="Noto Sans SC"/>
              </a:rPr>
              <a:t>2025年5月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92" y="1515237"/>
            <a:ext cx="5362164" cy="31592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1496758"/>
            <a:ext cx="5507996" cy="28420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00" y="5098341"/>
            <a:ext cx="3678650" cy="12420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596" y="5100965"/>
            <a:ext cx="3579971" cy="12394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270" y="5105517"/>
            <a:ext cx="3584924" cy="123306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375" y="2013751"/>
            <a:ext cx="1512189" cy="6609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4562" y="3563397"/>
            <a:ext cx="1485586" cy="66922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7537" y="2015050"/>
            <a:ext cx="1496568" cy="66039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5422" y="3566256"/>
            <a:ext cx="1503426" cy="66131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1012" y="2014061"/>
            <a:ext cx="1487255" cy="66522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6585" y="3568532"/>
            <a:ext cx="1499139" cy="65676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6300" y="1270496"/>
            <a:ext cx="1750790" cy="56139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8035" y="3929241"/>
            <a:ext cx="1043368" cy="84803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23888" y="4359687"/>
            <a:ext cx="953098" cy="45767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2014" y="5410009"/>
            <a:ext cx="298536" cy="32223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8003" y="1705615"/>
            <a:ext cx="342138" cy="232843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50092" y="2978148"/>
            <a:ext cx="245364" cy="26895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2906" y="2996469"/>
            <a:ext cx="237850" cy="24736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67322" y="2995136"/>
            <a:ext cx="239245" cy="24403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4456" y="539591"/>
            <a:ext cx="7817834" cy="48215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0043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000428"/>
                </a:solidFill>
                <a:latin typeface="Noto Sans SC"/>
                <a:ea typeface="Noto Sans SC"/>
              </a:rPr>
              <a:t>修订背景:基于五年实践调研的系统优化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918" y="1370076"/>
            <a:ext cx="1040415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Noto Sans SC"/>
                <a:ea typeface="Noto Sans SC"/>
              </a:rPr>
              <a:t>工作模式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744" y="2120169"/>
            <a:ext cx="3971163" cy="96440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3316"/>
              </a:lnSpc>
              <a:spcBef>
                <a:spcPts val="0"/>
              </a:spcBef>
              <a:spcAft>
                <a:spcPts val="0"/>
              </a:spcAft>
            </a:pPr>
            <a:r>
              <a:rPr sz="7350" b="1" i="0">
                <a:solidFill>
                  <a:srgbClr val="020C32"/>
                </a:solidFill>
                <a:latin typeface="Noto Sans SC"/>
                <a:ea typeface="Noto Sans SC"/>
              </a:rPr>
              <a:t>45.37%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0665" y="2166080"/>
            <a:ext cx="1098994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053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127"/>
                </a:solidFill>
                <a:latin typeface="Noto Sans SC"/>
                <a:ea typeface="Noto Sans SC"/>
              </a:rPr>
              <a:t>基层调研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0497" y="2166080"/>
            <a:ext cx="1069752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053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126"/>
                </a:solidFill>
                <a:latin typeface="Noto Sans SC"/>
                <a:ea typeface="Noto Sans SC"/>
              </a:rPr>
              <a:t>问题梳理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1750" y="2166080"/>
            <a:ext cx="1098994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05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Noto Sans SC"/>
                <a:ea typeface="Noto Sans SC"/>
              </a:rPr>
              <a:t>专家访谈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2362" y="3454241"/>
            <a:ext cx="3966781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740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19"/>
                </a:solidFill>
                <a:latin typeface="Noto Sans SC"/>
                <a:ea typeface="Noto Sans SC"/>
              </a:rPr>
              <a:t>教研员认为课程标准难以理解或难以操作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1427" y="3728275"/>
            <a:ext cx="1126902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4759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127"/>
                </a:solidFill>
                <a:latin typeface="Noto Sans SC"/>
                <a:ea typeface="Noto Sans SC"/>
              </a:rPr>
              <a:t>专家访谈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1922" y="3728275"/>
            <a:ext cx="1097565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124"/>
                </a:solidFill>
                <a:latin typeface="Noto Sans SC"/>
                <a:ea typeface="Noto Sans SC"/>
              </a:rPr>
              <a:t>集中修订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2512" y="3728275"/>
            <a:ext cx="1097565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24"/>
                </a:solidFill>
                <a:latin typeface="Noto Sans SC"/>
                <a:ea typeface="Noto Sans SC"/>
              </a:rPr>
              <a:t>实践验证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669" y="5412200"/>
            <a:ext cx="3295650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846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1C"/>
                </a:solidFill>
                <a:latin typeface="Noto Sans SC"/>
                <a:ea typeface="Noto Sans SC"/>
              </a:rPr>
              <a:t>①课标文本逻辑架构不够清晰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5669" y="5412200"/>
            <a:ext cx="2533650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846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19"/>
                </a:solidFill>
                <a:latin typeface="Noto Sans SC"/>
                <a:ea typeface="Noto Sans SC"/>
              </a:rPr>
              <a:t>②表述存在冗余与宽泛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0596" y="5412200"/>
            <a:ext cx="2797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1B"/>
                </a:solidFill>
                <a:latin typeface="Noto Sans SC"/>
                <a:ea typeface="Noto Sans SC"/>
              </a:rPr>
              <a:t>③"教、学、评"之间脱节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764" y="1133138"/>
            <a:ext cx="4368260" cy="16148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403" y="1137299"/>
            <a:ext cx="4353496" cy="16129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004" y="4486550"/>
            <a:ext cx="4353496" cy="16051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195" y="2815383"/>
            <a:ext cx="4349019" cy="160527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832" y="4492068"/>
            <a:ext cx="4353020" cy="160023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7665" y="2819495"/>
            <a:ext cx="4343257" cy="160315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6237" y="1133760"/>
            <a:ext cx="2672955" cy="64208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8171" y="4944141"/>
            <a:ext cx="903326" cy="88906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817" y="3295840"/>
            <a:ext cx="878645" cy="83115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4334" y="4963572"/>
            <a:ext cx="834661" cy="844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4331" y="1651555"/>
            <a:ext cx="826484" cy="80273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2495" y="3316414"/>
            <a:ext cx="779920" cy="78943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08037" y="1697640"/>
            <a:ext cx="824639" cy="7203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376" y="5347969"/>
            <a:ext cx="429768" cy="45364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62816" y="1280759"/>
            <a:ext cx="348234" cy="37208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7942" y="4654821"/>
            <a:ext cx="348805" cy="35823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3846" y="1280199"/>
            <a:ext cx="344900" cy="36406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67608" y="4650390"/>
            <a:ext cx="344460" cy="35861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63769" y="2984870"/>
            <a:ext cx="346043" cy="355523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9531" y="2986182"/>
            <a:ext cx="338768" cy="3578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14138" y="418719"/>
            <a:ext cx="2334387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97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832"/>
                </a:solidFill>
                <a:latin typeface="Noto Sans SC"/>
                <a:ea typeface="Noto Sans SC"/>
              </a:rPr>
              <a:t>六大变化趋势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4819" y="1277493"/>
            <a:ext cx="2096928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774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FDFEFE"/>
                </a:solidFill>
                <a:latin typeface="Noto Sans SC"/>
                <a:ea typeface="Noto Sans SC"/>
              </a:rPr>
              <a:t>①完善内容逻辑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1277493"/>
            <a:ext cx="2096928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774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10731"/>
                </a:solidFill>
                <a:latin typeface="Noto Sans SC"/>
                <a:ea typeface="Noto Sans SC"/>
              </a:rPr>
              <a:t>②精准内容表述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5581" y="2992755"/>
            <a:ext cx="2066162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379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62E"/>
                </a:solidFill>
                <a:latin typeface="Noto Sans SC"/>
                <a:ea typeface="Noto Sans SC"/>
              </a:rPr>
              <a:t>③强化素养导向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1087" y="2992755"/>
            <a:ext cx="2095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871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52F"/>
                </a:solidFill>
                <a:latin typeface="Noto Sans SC"/>
                <a:ea typeface="Noto Sans SC"/>
              </a:rPr>
              <a:t>④呼应时代需求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5790" y="3731323"/>
            <a:ext cx="798671" cy="40490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7D93"/>
                </a:solidFill>
                <a:latin typeface="Noto Sans SC"/>
                <a:ea typeface="Noto Sans SC"/>
              </a:rPr>
              <a:t>优化素养要累</a:t>
            </a:r>
          </a:p>
          <a:p>
            <a:pPr marL="762">
              <a:spcBef>
                <a:spcPts val="909"/>
              </a:spcBef>
            </a:pPr>
            <a:r>
              <a:rPr sz="900" lang="zh-CN">
                <a:latin typeface="Noto Sans SC"/>
                <a:ea typeface="Noto Sans SC"/>
              </a:rPr>
              <a:t>方量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1959" y="3731323"/>
            <a:ext cx="827913" cy="16078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9846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70788E"/>
                </a:solidFill>
                <a:latin typeface="Noto Sans SC"/>
                <a:ea typeface="Noto Sans SC"/>
              </a:rPr>
              <a:t>呼呼代心要求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4918" y="4646009"/>
            <a:ext cx="2066162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379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52E"/>
                </a:solidFill>
                <a:latin typeface="Noto Sans SC"/>
                <a:ea typeface="Noto Sans SC"/>
              </a:rPr>
              <a:t>⑤重构学业质量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1087" y="4646009"/>
            <a:ext cx="2095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871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333333"/>
                </a:solidFill>
                <a:latin typeface="Noto Sans SC"/>
                <a:ea typeface="Noto Sans SC"/>
              </a:rPr>
              <a:t>⑥优化实施建议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5790" y="5384577"/>
            <a:ext cx="798671" cy="40490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97389"/>
                </a:solidFill>
                <a:latin typeface="Noto Sans SC"/>
                <a:ea typeface="Noto Sans SC"/>
              </a:rPr>
              <a:t>优化素养要素</a:t>
            </a:r>
          </a:p>
          <a:p>
            <a:pPr marL="762">
              <a:spcBef>
                <a:spcPts val="909"/>
              </a:spcBef>
            </a:pPr>
            <a:r>
              <a:rPr sz="900" lang="zh-CN">
                <a:latin typeface="Noto Sans SC"/>
                <a:ea typeface="Noto Sans SC"/>
              </a:rPr>
              <a:t>优肤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1296" y="5384577"/>
            <a:ext cx="798671" cy="16078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4066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F788D"/>
                </a:solidFill>
                <a:latin typeface="Noto Sans SC"/>
                <a:ea typeface="Noto Sans SC"/>
              </a:rPr>
              <a:t>优结代心要素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871" y="6210490"/>
            <a:ext cx="4287678" cy="19288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11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727886"/>
                </a:solidFill>
                <a:latin typeface="Noto Sans SC"/>
                <a:ea typeface="Noto Sans SC"/>
              </a:rPr>
              <a:t>核心总近,候为亥学利及生活的闪能、优行、未来为核心总结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457" y="2035206"/>
            <a:ext cx="5703570" cy="37087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769" y="3684365"/>
            <a:ext cx="3572478" cy="16862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772" y="2183225"/>
            <a:ext cx="3550185" cy="14162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05260"/>
            <a:ext cx="1755362" cy="15508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333" y="1347311"/>
            <a:ext cx="2375917" cy="6367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05127" y="3833050"/>
            <a:ext cx="585765" cy="255260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2085" y="462153"/>
            <a:ext cx="1019958" cy="123920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42" y="6180192"/>
            <a:ext cx="1106328" cy="67714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0464" y="5668232"/>
            <a:ext cx="277930" cy="2685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709" y="600837"/>
            <a:ext cx="3509581" cy="48215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0043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00073B"/>
                </a:solidFill>
                <a:latin typeface="Noto Sans SC"/>
                <a:ea typeface="Noto Sans SC"/>
              </a:rPr>
              <a:t>一、完善内容逻辑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4409" y="1461135"/>
            <a:ext cx="1921097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43B"/>
                </a:solidFill>
                <a:latin typeface="Noto Sans SC"/>
                <a:ea typeface="Noto Sans SC"/>
              </a:rPr>
              <a:t>目录结构对比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1834" y="2288571"/>
            <a:ext cx="112833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546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227"/>
                </a:solidFill>
                <a:latin typeface="Noto Sans SC"/>
                <a:ea typeface="Noto Sans SC"/>
              </a:rPr>
              <a:t>2020版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2918" y="2288571"/>
            <a:ext cx="1098994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546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32D"/>
                </a:solidFill>
                <a:latin typeface="Noto Sans SC"/>
                <a:ea typeface="Noto Sans SC"/>
              </a:rPr>
              <a:t>2025版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4581" y="2441638"/>
            <a:ext cx="2564415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379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334"/>
                </a:solidFill>
                <a:latin typeface="Noto Sans SC"/>
                <a:ea typeface="Noto Sans SC"/>
              </a:rPr>
              <a:t>课程性质与基本理念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4680" y="2809779"/>
            <a:ext cx="921734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2087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课程性质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596" y="2810541"/>
            <a:ext cx="2825972" cy="264528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30003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Noto Sans SC"/>
                <a:ea typeface="Noto Sans SC"/>
              </a:rPr>
              <a:t>一、课程性质与基本理念</a:t>
            </a:r>
          </a:p>
          <a:p>
            <a:pPr marL="666">
              <a:spcBef>
                <a:spcPts val="627"/>
              </a:spcBef>
            </a:pPr>
            <a:r>
              <a:rPr sz="1600" lang="zh-CN">
                <a:latin typeface="Noto Sans SC"/>
                <a:ea typeface="Noto Sans SC"/>
              </a:rPr>
              <a:t>二、学科核心素养与课程目标</a:t>
            </a:r>
          </a:p>
          <a:p>
            <a:pPr marL="29241">
              <a:spcBef>
                <a:spcPts val="620"/>
              </a:spcBef>
            </a:pPr>
            <a:r>
              <a:rPr sz="1600" lang="zh-CN">
                <a:latin typeface="Noto Sans SC"/>
                <a:ea typeface="Noto Sans SC"/>
              </a:rPr>
              <a:t>三、课程结构</a:t>
            </a:r>
          </a:p>
          <a:p>
            <a:pPr marL="30003">
              <a:spcBef>
                <a:spcPts val="620"/>
              </a:spcBef>
            </a:pPr>
            <a:r>
              <a:rPr sz="1600" lang="zh-CN">
                <a:latin typeface="Noto Sans SC"/>
                <a:ea typeface="Noto Sans SC"/>
              </a:rPr>
              <a:t>四、课程内容</a:t>
            </a:r>
          </a:p>
          <a:p>
            <a:pPr marL="30003">
              <a:spcBef>
                <a:spcPts val="385"/>
              </a:spcBef>
            </a:pPr>
            <a:r>
              <a:rPr sz="1600" lang="zh-CN">
                <a:latin typeface="Noto Sans SC"/>
                <a:ea typeface="Noto Sans SC"/>
              </a:rPr>
              <a:t>四、学程内容</a:t>
            </a:r>
          </a:p>
          <a:p>
            <a:pPr marL="666">
              <a:spcBef>
                <a:spcPts val="627"/>
              </a:spcBef>
            </a:pPr>
            <a:r>
              <a:rPr sz="1600" lang="zh-CN">
                <a:latin typeface="Noto Sans SC"/>
                <a:ea typeface="Noto Sans SC"/>
              </a:rPr>
              <a:t>五、学业质量</a:t>
            </a:r>
          </a:p>
          <a:p>
            <a:pPr>
              <a:spcBef>
                <a:spcPts val="620"/>
              </a:spcBef>
            </a:pPr>
            <a:r>
              <a:rPr sz="1600" lang="zh-CN">
                <a:latin typeface="Noto Sans SC"/>
                <a:ea typeface="Noto Sans SC"/>
              </a:rPr>
              <a:t>六、实施建议</a:t>
            </a:r>
          </a:p>
          <a:p>
            <a:pPr marL="30003">
              <a:spcBef>
                <a:spcPts val="620"/>
              </a:spcBef>
            </a:pPr>
            <a:r>
              <a:rPr sz="1600" lang="zh-CN">
                <a:latin typeface="Noto Sans SC"/>
                <a:ea typeface="Noto Sans SC"/>
              </a:rPr>
              <a:t>七、附录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6105" y="2963608"/>
            <a:ext cx="2971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1"/>
                </a:solidFill>
                <a:latin typeface="Noto Sans SC"/>
                <a:ea typeface="Noto Sans SC"/>
              </a:rPr>
              <a:t>拆为'课程性质"和"课程理念"两章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1108" y="3147345"/>
            <a:ext cx="1320165" cy="227714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3238">
              <a:spcBef>
                <a:spcPts val="0"/>
              </a:spcBef>
              <a:spcAft>
                <a:spcPts val="0"/>
              </a:spcAft>
            </a:pPr>
            <a:r>
              <a:rPr sz="1605" b="0" i="0">
                <a:solidFill>
                  <a:srgbClr val="000000"/>
                </a:solidFill>
                <a:latin typeface="Noto Sans SC"/>
                <a:ea typeface="Noto Sans SC"/>
              </a:rPr>
              <a:t>二、课程理念</a:t>
            </a:r>
          </a:p>
          <a:p>
            <a:pPr>
              <a:spcBef>
                <a:spcPts val="740"/>
              </a:spcBef>
            </a:pPr>
            <a:r>
              <a:rPr sz="1605" lang="zh-CN">
                <a:latin typeface="Noto Sans SC"/>
                <a:ea typeface="Noto Sans SC"/>
              </a:rPr>
              <a:t>三、课程目标</a:t>
            </a:r>
          </a:p>
          <a:p>
            <a:pPr marL="761">
              <a:spcBef>
                <a:spcPts val="403"/>
              </a:spcBef>
            </a:pPr>
            <a:r>
              <a:rPr sz="1605" lang="zh-CN">
                <a:latin typeface="Noto Sans SC"/>
                <a:ea typeface="Noto Sans SC"/>
              </a:rPr>
              <a:t>四、课程结构</a:t>
            </a:r>
          </a:p>
          <a:p>
            <a:pPr marL="2571">
              <a:spcBef>
                <a:spcPts val="487"/>
              </a:spcBef>
            </a:pPr>
            <a:r>
              <a:rPr sz="1605" lang="zh-CN">
                <a:latin typeface="Noto Sans SC"/>
                <a:ea typeface="Noto Sans SC"/>
              </a:rPr>
              <a:t>五、课程内容</a:t>
            </a:r>
          </a:p>
          <a:p>
            <a:pPr marL="2571">
              <a:spcBef>
                <a:spcPts val="373"/>
              </a:spcBef>
            </a:pPr>
            <a:r>
              <a:rPr sz="1605" lang="zh-CN">
                <a:latin typeface="Noto Sans SC"/>
                <a:ea typeface="Noto Sans SC"/>
              </a:rPr>
              <a:t>六、学业质量</a:t>
            </a:r>
          </a:p>
          <a:p>
            <a:pPr marL="2571">
              <a:spcBef>
                <a:spcPts val="372"/>
              </a:spcBef>
            </a:pPr>
            <a:r>
              <a:rPr sz="1605" lang="zh-CN">
                <a:latin typeface="Noto Sans SC"/>
                <a:ea typeface="Noto Sans SC"/>
              </a:rPr>
              <a:t>七、实施建议</a:t>
            </a:r>
          </a:p>
          <a:p>
            <a:pPr marL="4000">
              <a:spcBef>
                <a:spcPts val="627"/>
              </a:spcBef>
            </a:pPr>
            <a:r>
              <a:rPr sz="1605" lang="zh-CN">
                <a:latin typeface="Noto Sans SC"/>
                <a:ea typeface="Noto Sans SC"/>
              </a:rPr>
              <a:t>八、附录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4581" y="3941825"/>
            <a:ext cx="1714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335"/>
                </a:solidFill>
                <a:latin typeface="Noto Sans SC"/>
                <a:ea typeface="Noto Sans SC"/>
              </a:rPr>
              <a:t>学科核心素养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5343" y="4463034"/>
            <a:ext cx="2667333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/>
                <a:ea typeface="Noto Sans SC"/>
              </a:rPr>
              <a:t>从与"课程目标'的平行关系调</a:t>
            </a:r>
          </a:p>
          <a:p>
            <a:pPr marL="762"/>
            <a:r>
              <a:rPr sz="1575" lang="zh-CN">
                <a:latin typeface="Noto Sans SC"/>
                <a:ea typeface="Noto Sans SC"/>
              </a:rPr>
              <a:t>整为隶属关系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603" y="5872924"/>
            <a:ext cx="2589371" cy="22498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8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/>
                <a:ea typeface="Noto Sans SC"/>
              </a:rPr>
              <a:t>2020版7章→2025版8章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746" y="1956651"/>
            <a:ext cx="5070062" cy="37513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98" y="1973569"/>
            <a:ext cx="5075301" cy="3737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08" y="6085394"/>
            <a:ext cx="10680573" cy="7714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2957" y="1706022"/>
            <a:ext cx="1175683" cy="119948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5218" y="1802966"/>
            <a:ext cx="1147381" cy="102359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333" y="5007101"/>
            <a:ext cx="2577105" cy="42557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1765" y="5005516"/>
            <a:ext cx="1682019" cy="42884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399" y="4523517"/>
            <a:ext cx="1435773" cy="43738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8353" y="4521041"/>
            <a:ext cx="1434253" cy="43548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8636" y="2366054"/>
            <a:ext cx="648462" cy="6532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7415" y="688847"/>
            <a:ext cx="4718494" cy="6429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0656"/>
              </a:lnSpc>
              <a:spcBef>
                <a:spcPts val="0"/>
              </a:spcBef>
              <a:spcAft>
                <a:spcPts val="0"/>
              </a:spcAft>
            </a:pPr>
            <a:r>
              <a:rPr sz="4575" b="1" i="0">
                <a:solidFill>
                  <a:srgbClr val="000735"/>
                </a:solidFill>
                <a:latin typeface="Noto Sans SC"/>
                <a:ea typeface="Noto Sans SC"/>
              </a:rPr>
              <a:t>二、精准内容表述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812" y="2194369"/>
            <a:ext cx="1162050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96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733"/>
                </a:solidFill>
                <a:latin typeface="Noto Sans SC"/>
                <a:ea typeface="Noto Sans SC"/>
              </a:rPr>
              <a:t>去冗余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563" y="2225802"/>
            <a:ext cx="1570196" cy="99726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587" b="1" i="0">
                <a:solidFill>
                  <a:srgbClr val="000633"/>
                </a:solidFill>
                <a:latin typeface="Noto Sans SC"/>
                <a:ea typeface="Noto Sans SC"/>
              </a:rPr>
              <a:t>升精准</a:t>
            </a:r>
          </a:p>
          <a:p>
            <a:pPr marL="762">
              <a:spcBef>
                <a:spcPts val="2030"/>
              </a:spcBef>
            </a:pPr>
            <a:r>
              <a:rPr sz="2587" lang="zh-CN" b="1">
                <a:latin typeface="Noto Sans SC"/>
                <a:ea typeface="Noto Sans SC"/>
              </a:rPr>
              <a:t>表述更具体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2819" y="3114389"/>
            <a:ext cx="1569434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742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10637"/>
                </a:solidFill>
                <a:latin typeface="Noto Sans SC"/>
                <a:ea typeface="Noto Sans SC"/>
              </a:rPr>
              <a:t>副标题删除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515" y="3300412"/>
            <a:ext cx="4408646" cy="59464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2" b="0" i="0">
                <a:solidFill>
                  <a:srgbClr val="000229"/>
                </a:solidFill>
                <a:latin typeface="Noto Sans SC"/>
                <a:ea typeface="Noto Sans SC"/>
              </a:rPr>
              <a:t>→在学习数学和应用数学的过程中</a:t>
            </a:r>
          </a:p>
          <a:p>
            <a:pPr marL="28575">
              <a:spcBef>
                <a:spcPts val="379"/>
              </a:spcBef>
            </a:pPr>
            <a:r>
              <a:rPr sz="1762" lang="zh-CN">
                <a:latin typeface="Noto Sans SC"/>
                <a:ea typeface="Noto Sans SC"/>
              </a:rPr>
              <a:t>→在数学问题解决和知识体系构建的过程中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4343" y="3544538"/>
            <a:ext cx="438007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20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10637"/>
                </a:solidFill>
                <a:latin typeface="Noto Sans SC"/>
                <a:ea typeface="Noto Sans SC"/>
              </a:rPr>
              <a:t>课程理念四个条目前均删除了冗长的副标题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4063555"/>
            <a:ext cx="1276350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485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00532"/>
                </a:solidFill>
                <a:latin typeface="Noto Sans SC"/>
                <a:ea typeface="Noto Sans SC"/>
              </a:rPr>
              <a:t>术语更新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577" y="4124706"/>
            <a:ext cx="3591687" cy="8128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37" b="1" i="0">
                <a:solidFill>
                  <a:srgbClr val="010637"/>
                </a:solidFill>
                <a:latin typeface="Noto Sans SC"/>
                <a:ea typeface="Noto Sans SC"/>
              </a:rPr>
              <a:t>核心素养删除"主主要</a:t>
            </a:r>
          </a:p>
          <a:p>
            <a:pPr>
              <a:spcBef>
                <a:spcPts val="832"/>
              </a:spcBef>
            </a:pPr>
            <a:r>
              <a:rPr sz="2437" lang="zh-CN" b="1">
                <a:latin typeface="Noto Sans SC"/>
                <a:ea typeface="Noto Sans SC"/>
              </a:rPr>
              <a:t>核心素养删除"主要包括"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6596" y="4586287"/>
            <a:ext cx="2400300" cy="74780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666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29"/>
                </a:solidFill>
                <a:latin typeface="Noto Sans SC"/>
                <a:ea typeface="Noto Sans SC"/>
              </a:rPr>
              <a:t>大数据时代</a:t>
            </a:r>
          </a:p>
          <a:p>
            <a:pPr>
              <a:spcBef>
                <a:spcPts val="1584"/>
              </a:spcBef>
            </a:pPr>
            <a:r>
              <a:rPr sz="1800" lang="zh-CN">
                <a:latin typeface="Noto Sans SC"/>
                <a:ea typeface="Noto Sans SC"/>
              </a:rPr>
              <a:t>计算机科学、人工智能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2021" y="4586287"/>
            <a:ext cx="115471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29"/>
                </a:solidFill>
                <a:latin typeface="Noto Sans SC"/>
                <a:ea typeface="Noto Sans SC"/>
              </a:rPr>
              <a:t>数字化时代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105" y="5014912"/>
            <a:ext cx="3909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27"/>
                </a:solidFill>
                <a:latin typeface="Noto Sans SC"/>
                <a:ea typeface="Noto Sans SC"/>
              </a:rPr>
              <a:t>从静态的要素分解转向动态的行为描述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5680" y="5044725"/>
            <a:ext cx="1449228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9"/>
                </a:solidFill>
                <a:latin typeface="Noto Sans SC"/>
                <a:ea typeface="Noto Sans SC"/>
              </a:rPr>
              <a:t>人工智能技术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7171" y="6299263"/>
            <a:ext cx="4117752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546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42F"/>
                </a:solidFill>
                <a:latin typeface="Noto Sans SC"/>
                <a:ea typeface="Noto Sans SC"/>
              </a:rPr>
              <a:t>底层原因:去冗余性+升精准度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09" y="2267798"/>
            <a:ext cx="1823561" cy="28424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414" y="2258758"/>
            <a:ext cx="1813360" cy="28509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226" y="2258472"/>
            <a:ext cx="1813603" cy="28513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783" y="2259408"/>
            <a:ext cx="1808321" cy="285048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7097" y="2261623"/>
            <a:ext cx="1810226" cy="2843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792" y="2264458"/>
            <a:ext cx="1807464" cy="283962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0875" y="3584733"/>
            <a:ext cx="848748" cy="71046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8359" y="3582828"/>
            <a:ext cx="801261" cy="72066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498" y="3571875"/>
            <a:ext cx="795233" cy="72856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320" y="3587305"/>
            <a:ext cx="785078" cy="71370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9031" y="3585645"/>
            <a:ext cx="734377" cy="72483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07147" y="3612070"/>
            <a:ext cx="668083" cy="66808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3513" y="3844429"/>
            <a:ext cx="385286" cy="45663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8887" y="1211356"/>
            <a:ext cx="688657" cy="2517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2138" y="296227"/>
            <a:ext cx="3242881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4452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020C3C"/>
                </a:solidFill>
                <a:latin typeface="Noto Sans SC"/>
                <a:ea typeface="Noto Sans SC"/>
              </a:rPr>
              <a:t>三、强化素养导向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980" y="1122807"/>
            <a:ext cx="7170134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97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42C"/>
                </a:solidFill>
                <a:latin typeface="Noto Sans SC"/>
                <a:ea typeface="Noto Sans SC"/>
              </a:rPr>
              <a:t>从静态的要素分解→转向动态的行为描述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7086" y="2527268"/>
            <a:ext cx="1313402" cy="37690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9909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0022A"/>
                </a:solidFill>
                <a:latin typeface="Noto Sans SC"/>
                <a:ea typeface="Noto Sans SC"/>
              </a:rPr>
              <a:t>直观想象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152" y="2531935"/>
            <a:ext cx="1336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00229"/>
                </a:solidFill>
                <a:latin typeface="Noto Sans SC"/>
                <a:ea typeface="Noto Sans SC"/>
              </a:rPr>
              <a:t>数学抽象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3068" y="2531935"/>
            <a:ext cx="1336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0" i="0">
                <a:solidFill>
                  <a:srgbClr val="000127"/>
                </a:solidFill>
                <a:latin typeface="Noto Sans SC"/>
                <a:ea typeface="Noto Sans SC"/>
              </a:rPr>
              <a:t>逻辑推理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647" y="2531935"/>
            <a:ext cx="1336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0" i="0">
                <a:solidFill>
                  <a:srgbClr val="000229"/>
                </a:solidFill>
                <a:latin typeface="Noto Sans SC"/>
                <a:ea typeface="Noto Sans SC"/>
              </a:rPr>
              <a:t>数学建模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478" y="2531935"/>
            <a:ext cx="1307115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9118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022A"/>
                </a:solidFill>
                <a:latin typeface="Noto Sans SC"/>
                <a:ea typeface="Noto Sans SC"/>
              </a:rPr>
              <a:t>数学运算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6152" y="2531935"/>
            <a:ext cx="1336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00229"/>
                </a:solidFill>
                <a:latin typeface="Noto Sans SC"/>
                <a:ea typeface="Noto Sans SC"/>
              </a:rPr>
              <a:t>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2515" y="4463796"/>
            <a:ext cx="100822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C7386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347" y="4463796"/>
            <a:ext cx="97888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42105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386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2021" y="4463796"/>
            <a:ext cx="97888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42105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D7486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03" y="4495228"/>
            <a:ext cx="977455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76E83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6193" y="4495228"/>
            <a:ext cx="977455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87082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603" y="4495228"/>
            <a:ext cx="977455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76E83"/>
                </a:solidFill>
                <a:latin typeface="Noto Sans SC"/>
                <a:ea typeface="Noto Sans SC"/>
              </a:rPr>
              <a:t>主要表现为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1244" y="5748147"/>
            <a:ext cx="4469415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5469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22B"/>
                </a:solidFill>
                <a:latin typeface="Noto Sans SC"/>
                <a:ea typeface="Noto Sans SC"/>
              </a:rPr>
              <a:t>底层原因:提升可读性和可操作性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76" y="5691923"/>
            <a:ext cx="10713624" cy="7428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88" y="2719673"/>
            <a:ext cx="3711321" cy="10576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94" y="3964400"/>
            <a:ext cx="3712185" cy="9661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149" y="2173795"/>
            <a:ext cx="727698" cy="294884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053" y="2766472"/>
            <a:ext cx="2486120" cy="8287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1819" y="3700748"/>
            <a:ext cx="2485632" cy="8269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6624" y="1839817"/>
            <a:ext cx="2490978" cy="8192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9151" y="4636293"/>
            <a:ext cx="2490495" cy="81905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9516" y="1079182"/>
            <a:ext cx="3274500" cy="59493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661" y="1078134"/>
            <a:ext cx="2260471" cy="5983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0001" y="5699802"/>
            <a:ext cx="1693545" cy="73943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3341" y="4659725"/>
            <a:ext cx="1293259" cy="76742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0802" y="2796349"/>
            <a:ext cx="1294434" cy="76619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07652" y="1869621"/>
            <a:ext cx="1298352" cy="76093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2830" y="3730180"/>
            <a:ext cx="1292663" cy="76514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2861" y="2924572"/>
            <a:ext cx="838295" cy="50202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6667" y="3862387"/>
            <a:ext cx="837250" cy="50425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09949" y="1996820"/>
            <a:ext cx="834879" cy="49615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12003" y="4789350"/>
            <a:ext cx="828389" cy="49512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6469" y="4025455"/>
            <a:ext cx="650969" cy="1663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72687" y="322992"/>
            <a:ext cx="4246721" cy="57864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000532"/>
                </a:solidFill>
                <a:latin typeface="Noto Sans SC"/>
                <a:ea typeface="Noto Sans SC"/>
              </a:rPr>
              <a:t>四、呼应时代需求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259" y="1217771"/>
            <a:ext cx="1830228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481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23"/>
                </a:solidFill>
                <a:latin typeface="Noto Sans SC"/>
                <a:ea typeface="Noto Sans SC"/>
              </a:rPr>
              <a:t>AI技术写入课标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1922" y="1217771"/>
            <a:ext cx="2797397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26"/>
                </a:solidFill>
                <a:latin typeface="Noto Sans SC"/>
                <a:ea typeface="Noto Sans SC"/>
              </a:rPr>
              <a:t>向量与概率统计要求提高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1512" y="2075021"/>
            <a:ext cx="1947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/>
                <a:ea typeface="Noto Sans SC"/>
              </a:rPr>
              <a:t>平面向量基本定理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1259" y="2075021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/>
                <a:ea typeface="Noto Sans SC"/>
              </a:rPr>
              <a:t>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2175" y="2075021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26"/>
                </a:solidFill>
                <a:latin typeface="Noto Sans SC"/>
                <a:ea typeface="Noto Sans SC"/>
              </a:rPr>
              <a:t>掌握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581" y="2931509"/>
            <a:ext cx="3150584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40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科学、合理地使用人工智能技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1413" y="2992755"/>
            <a:ext cx="51292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24"/>
                </a:solidFill>
                <a:latin typeface="Noto Sans SC"/>
                <a:ea typeface="Noto Sans SC"/>
              </a:rPr>
              <a:t>掌握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1512" y="3024092"/>
            <a:ext cx="1947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/>
                <a:ea typeface="Noto Sans SC"/>
              </a:rPr>
              <a:t>空间向量基本定理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1259" y="3024092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24"/>
                </a:solidFill>
                <a:latin typeface="Noto Sans SC"/>
                <a:ea typeface="Noto Sans SC"/>
              </a:rPr>
              <a:t>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2596" y="3238404"/>
            <a:ext cx="218198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/>
                <a:ea typeface="Noto Sans SC"/>
              </a:rPr>
              <a:t>术赋能数学教学改革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1512" y="3942588"/>
            <a:ext cx="1976818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条件概率与独立性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1259" y="3942588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5"/>
                </a:solidFill>
                <a:latin typeface="Noto Sans SC"/>
                <a:ea typeface="Noto Sans SC"/>
              </a:rPr>
              <a:t>了解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2175" y="3942588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27"/>
                </a:solidFill>
                <a:latin typeface="Noto Sans SC"/>
                <a:ea typeface="Noto Sans SC"/>
              </a:rPr>
              <a:t>掌握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0412" y="4247959"/>
            <a:ext cx="2066162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9808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25"/>
                </a:solidFill>
                <a:latin typeface="Noto Sans SC"/>
                <a:ea typeface="Noto Sans SC"/>
              </a:rPr>
              <a:t>人工智能赋能教学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1512" y="4861083"/>
            <a:ext cx="1976818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条件概率与独立性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2175" y="4861083"/>
            <a:ext cx="511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27"/>
                </a:solidFill>
                <a:latin typeface="Noto Sans SC"/>
                <a:ea typeface="Noto Sans SC"/>
              </a:rPr>
              <a:t>理解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2021" y="4892421"/>
            <a:ext cx="509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23"/>
                </a:solidFill>
                <a:latin typeface="Noto Sans SC"/>
                <a:ea typeface="Noto Sans SC"/>
              </a:rPr>
              <a:t>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512" y="5901975"/>
            <a:ext cx="1097565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126"/>
                </a:solidFill>
                <a:latin typeface="Noto Sans SC"/>
                <a:ea typeface="Noto Sans SC"/>
              </a:rPr>
              <a:t>底层逻辑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1006" y="5901975"/>
            <a:ext cx="522998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22"/>
                </a:solidFill>
                <a:latin typeface="Noto Sans SC"/>
                <a:ea typeface="Noto Sans SC"/>
              </a:rPr>
              <a:t>数字计算本质是向量运算,机器学习核心是概率模型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103" y="1410652"/>
            <a:ext cx="5775315" cy="2413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340" y="4011197"/>
            <a:ext cx="5917311" cy="21898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52" y="1620512"/>
            <a:ext cx="4720875" cy="22319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413" y="4554258"/>
            <a:ext cx="5512022" cy="7949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85" y="4340032"/>
            <a:ext cx="1920716" cy="14975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899" y="1797367"/>
            <a:ext cx="1931491" cy="12369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8562" y="4348756"/>
            <a:ext cx="2150459" cy="9800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21190" y="2597562"/>
            <a:ext cx="2554452" cy="6018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1685" y="1572263"/>
            <a:ext cx="2526315" cy="59946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729" y="1836705"/>
            <a:ext cx="1038850" cy="110556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9705" y="4451690"/>
            <a:ext cx="771810" cy="82421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8243" y="1910810"/>
            <a:ext cx="484200" cy="22564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5646" y="2881367"/>
            <a:ext cx="486156" cy="22401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8804" y="3368611"/>
            <a:ext cx="478126" cy="22031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06712" y="2399347"/>
            <a:ext cx="483451" cy="2180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6537" y="263271"/>
            <a:ext cx="3774852" cy="514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0204"/>
              </a:lnSpc>
              <a:spcBef>
                <a:spcPts val="0"/>
              </a:spcBef>
              <a:spcAft>
                <a:spcPts val="0"/>
              </a:spcAft>
            </a:pPr>
            <a:r>
              <a:rPr sz="3675" b="1" i="0">
                <a:solidFill>
                  <a:srgbClr val="000535"/>
                </a:solidFill>
                <a:latin typeface="Noto Sans SC"/>
                <a:ea typeface="Noto Sans SC"/>
              </a:rPr>
              <a:t>五、重构学业质量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988" y="1093755"/>
            <a:ext cx="1950434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15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000231"/>
                </a:solidFill>
                <a:latin typeface="Noto Sans SC"/>
                <a:ea typeface="Noto Sans SC"/>
              </a:rPr>
              <a:t>四个维度变化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0746" y="1093755"/>
            <a:ext cx="1950434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5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10430"/>
                </a:solidFill>
                <a:latin typeface="Noto Sans SC"/>
                <a:ea typeface="Noto Sans SC"/>
              </a:rPr>
              <a:t>描述方式转变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2493" y="1675447"/>
            <a:ext cx="1745265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128"/>
                </a:solidFill>
                <a:latin typeface="Noto Sans SC"/>
                <a:ea typeface="Noto Sans SC"/>
              </a:rPr>
              <a:t>6×3纵向切片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497" y="1829276"/>
            <a:ext cx="4176331" cy="179108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129"/>
                </a:solidFill>
                <a:latin typeface="Noto Sans SC"/>
                <a:ea typeface="Noto Sans SC"/>
              </a:rPr>
              <a:t>情境与问题→情境与问题解决</a:t>
            </a:r>
          </a:p>
          <a:p>
            <a:pPr>
              <a:spcBef>
                <a:spcPts val="1325"/>
              </a:spcBef>
            </a:pPr>
            <a:r>
              <a:rPr sz="2400" lang="zh-CN">
                <a:latin typeface="Noto Sans SC"/>
                <a:ea typeface="Noto Sans SC"/>
              </a:rPr>
              <a:t>知识与技能→知识与体系构建</a:t>
            </a:r>
          </a:p>
          <a:p>
            <a:pPr marL="29336">
              <a:spcBef>
                <a:spcPts val="1326"/>
              </a:spcBef>
            </a:pPr>
            <a:r>
              <a:rPr sz="2400" lang="zh-CN">
                <a:latin typeface="Noto Sans SC"/>
                <a:ea typeface="Noto Sans SC"/>
              </a:rPr>
              <a:t>思维与表达→思维与交流表达</a:t>
            </a:r>
          </a:p>
          <a:p>
            <a:pPr>
              <a:spcBef>
                <a:spcPts val="1325"/>
              </a:spcBef>
            </a:pPr>
            <a:r>
              <a:rPr sz="2400" lang="zh-CN">
                <a:latin typeface="Noto Sans SC"/>
                <a:ea typeface="Noto Sans SC"/>
              </a:rPr>
              <a:t>交流与反思→态度与价值判断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4577" y="2685764"/>
            <a:ext cx="2009012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742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000"/>
                </a:solidFill>
                <a:latin typeface="Noto Sans SC"/>
                <a:ea typeface="Noto Sans SC"/>
              </a:rPr>
              <a:t>3水平横向统整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2753" y="3360896"/>
            <a:ext cx="3852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846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/>
                <a:ea typeface="Noto Sans SC"/>
              </a:rPr>
              <a:t>不再以六大素养具体展开,统一描述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9984" y="4001547"/>
            <a:ext cx="5205031" cy="11205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62" b="1" i="0">
                <a:solidFill>
                  <a:srgbClr val="000000"/>
                </a:solidFill>
                <a:latin typeface="Noto Sans SC"/>
                <a:ea typeface="Noto Sans SC"/>
              </a:rPr>
              <a:t>高考命题明确化</a:t>
            </a:r>
          </a:p>
          <a:p>
            <a:pPr marL="263747">
              <a:spcBef>
                <a:spcPts val="2747"/>
              </a:spcBef>
            </a:pPr>
            <a:r>
              <a:rPr sz="2362" lang="zh-CN" b="1">
                <a:latin typeface="Noto Sans SC"/>
                <a:ea typeface="Noto Sans SC"/>
              </a:rPr>
              <a:t>数学高考命题不超过学业质量水平二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2838" y="5504021"/>
            <a:ext cx="5493734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水平三定位:为高等学校选拔拔尖创新人才提供参考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6497" y="6299263"/>
            <a:ext cx="572966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9808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124"/>
                </a:solidFill>
                <a:latin typeface="Noto Sans SC"/>
                <a:ea typeface="Noto Sans SC"/>
              </a:rPr>
              <a:t>重构学业质量旨在提升教育评价的科学性与导向性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483" y="1201578"/>
            <a:ext cx="4842330" cy="48899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99" y="1178013"/>
            <a:ext cx="4844510" cy="486830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280" y="3544443"/>
            <a:ext cx="1964211" cy="4851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544" y="4557848"/>
            <a:ext cx="375189" cy="37043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450" y="3153652"/>
            <a:ext cx="363569" cy="36829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2624" y="1067191"/>
            <a:ext cx="251364" cy="2561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8337" y="5877850"/>
            <a:ext cx="250983" cy="2415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2790" y="1076229"/>
            <a:ext cx="240030" cy="24003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6748" y="3273552"/>
            <a:ext cx="227792" cy="24203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561" y="4515612"/>
            <a:ext cx="231308" cy="23602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2248" y="2389417"/>
            <a:ext cx="230885" cy="2356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19500" y="321468"/>
            <a:ext cx="4923663" cy="6429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7143"/>
              </a:lnSpc>
              <a:spcBef>
                <a:spcPts val="0"/>
              </a:spcBef>
              <a:spcAft>
                <a:spcPts val="0"/>
              </a:spcAft>
            </a:pPr>
            <a:r>
              <a:rPr sz="4725" b="1" i="0">
                <a:solidFill>
                  <a:srgbClr val="010F3B"/>
                </a:solidFill>
                <a:latin typeface="Noto Sans SC"/>
                <a:ea typeface="Noto Sans SC"/>
              </a:rPr>
              <a:t>六、优化实施建议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396079"/>
            <a:ext cx="1960245" cy="103479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10C38"/>
                </a:solidFill>
                <a:latin typeface="Noto Sans SC"/>
                <a:ea typeface="Noto Sans SC"/>
              </a:rPr>
              <a:t>教学建议</a:t>
            </a:r>
          </a:p>
          <a:p>
            <a:pPr marL="29337">
              <a:spcBef>
                <a:spcPts val="48"/>
              </a:spcBef>
            </a:pPr>
            <a:r>
              <a:rPr sz="3600" lang="zh-CN" b="1">
                <a:latin typeface="Noto Sans SC"/>
                <a:ea typeface="Noto Sans SC"/>
              </a:rPr>
              <a:t>5条→6条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9694" y="1396079"/>
            <a:ext cx="2837021" cy="514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10C38"/>
                </a:solidFill>
                <a:latin typeface="Noto Sans SC"/>
                <a:ea typeface="Noto Sans SC"/>
              </a:rPr>
              <a:t>评价建议变化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9240" y="2318385"/>
            <a:ext cx="3744468" cy="170154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37" b="0" i="0">
                <a:solidFill>
                  <a:srgbClr val="00042E"/>
                </a:solidFill>
                <a:latin typeface="Noto Sans SC"/>
                <a:ea typeface="Noto Sans SC"/>
              </a:rPr>
              <a:t>新增"以评促教、以评促学"</a:t>
            </a:r>
          </a:p>
          <a:p>
            <a:pPr>
              <a:spcBef>
                <a:spcPts val="831"/>
              </a:spcBef>
            </a:pPr>
            <a:r>
              <a:rPr sz="2437" lang="zh-CN">
                <a:latin typeface="Noto Sans SC"/>
                <a:ea typeface="Noto Sans SC"/>
              </a:rPr>
              <a:t>评时评价的发展性功能</a:t>
            </a:r>
          </a:p>
          <a:p>
            <a:pPr>
              <a:spcBef>
                <a:spcPts val="590"/>
              </a:spcBef>
            </a:pPr>
            <a:r>
              <a:rPr sz="2437" lang="zh-CN">
                <a:latin typeface="Noto Sans SC"/>
                <a:ea typeface="Noto Sans SC"/>
              </a:rPr>
              <a:t>新增"育人导向作用"</a:t>
            </a:r>
          </a:p>
          <a:p>
            <a:pPr marL="28575">
              <a:spcBef>
                <a:spcPts val="585"/>
              </a:spcBef>
            </a:pPr>
            <a:r>
              <a:rPr sz="2437" lang="zh-CN">
                <a:latin typeface="Noto Sans SC"/>
                <a:ea typeface="Noto Sans SC"/>
              </a:rPr>
              <a:t>应应立德树人根本任务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647" y="3145059"/>
            <a:ext cx="3520440" cy="8136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762">
              <a:spcBef>
                <a:spcPts val="0"/>
              </a:spcBef>
              <a:spcAft>
                <a:spcPts val="0"/>
              </a:spcAft>
            </a:pPr>
            <a:r>
              <a:rPr sz="2587" b="0" i="0">
                <a:solidFill>
                  <a:srgbClr val="000000"/>
                </a:solidFill>
                <a:latin typeface="Noto Sans SC"/>
                <a:ea typeface="Noto Sans SC"/>
              </a:rPr>
              <a:t>数学建模活动与数学探究</a:t>
            </a:r>
          </a:p>
          <a:p>
            <a:pPr>
              <a:spcBef>
                <a:spcPts val="584"/>
              </a:spcBef>
            </a:pPr>
            <a:r>
              <a:rPr sz="2587" lang="zh-CN">
                <a:latin typeface="Noto Sans SC"/>
                <a:ea typeface="Noto Sans SC"/>
              </a:rPr>
              <a:t>活动(新增)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7526" y="4433506"/>
            <a:ext cx="3007233" cy="123882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00042E"/>
                </a:solidFill>
                <a:latin typeface="Noto Sans SC"/>
                <a:ea typeface="Noto Sans SC"/>
              </a:rPr>
              <a:t>新增"考试设计"部分</a:t>
            </a:r>
          </a:p>
          <a:p>
            <a:pPr marL="1714">
              <a:spcBef>
                <a:spcPts val="707"/>
              </a:spcBef>
            </a:pPr>
            <a:r>
              <a:rPr sz="2475" lang="zh-CN">
                <a:latin typeface="Noto Sans SC"/>
                <a:ea typeface="Noto Sans SC"/>
              </a:rPr>
              <a:t>设计要素、试卷结构、</a:t>
            </a:r>
          </a:p>
          <a:p>
            <a:pPr marL="31051">
              <a:spcBef>
                <a:spcPts val="590"/>
              </a:spcBef>
            </a:pPr>
            <a:r>
              <a:rPr sz="2475" lang="zh-CN">
                <a:latin typeface="Noto Sans SC"/>
                <a:ea typeface="Noto Sans SC"/>
              </a:rPr>
              <a:t>命题蓝图和分析报告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1409" y="4553331"/>
            <a:ext cx="3591687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6057"/>
              </a:lnSpc>
              <a:spcBef>
                <a:spcPts val="0"/>
              </a:spcBef>
              <a:spcAft>
                <a:spcPts val="0"/>
              </a:spcAft>
            </a:pPr>
            <a:r>
              <a:rPr sz="2625" b="0" i="0">
                <a:solidFill>
                  <a:srgbClr val="00032D"/>
                </a:solidFill>
                <a:latin typeface="Noto Sans SC"/>
                <a:ea typeface="Noto Sans SC"/>
              </a:rPr>
              <a:t>加强数学文化融入(新增)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307" y="1016317"/>
            <a:ext cx="8629565" cy="45789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508" y="5723230"/>
            <a:ext cx="8606028" cy="77630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" y="5130355"/>
            <a:ext cx="1252461" cy="15810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354" y="2142372"/>
            <a:ext cx="808863" cy="72797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144" y="4719281"/>
            <a:ext cx="600360" cy="6956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0919" y="1305591"/>
            <a:ext cx="710274" cy="51006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5529" y="4485036"/>
            <a:ext cx="533400" cy="5857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716" y="801243"/>
            <a:ext cx="409376" cy="3950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6787" y="409432"/>
            <a:ext cx="233648" cy="233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2372" y="355949"/>
            <a:ext cx="3128581" cy="48215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0043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000632"/>
                </a:solidFill>
                <a:latin typeface="Noto Sans SC"/>
                <a:ea typeface="Noto Sans SC"/>
              </a:rPr>
              <a:t>修订的四维逻辑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4980" y="1275969"/>
            <a:ext cx="1543050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97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72F"/>
                </a:solidFill>
                <a:latin typeface="Noto Sans SC"/>
                <a:ea typeface="Noto Sans SC"/>
              </a:rPr>
              <a:t>逻辑完善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3306" y="1275969"/>
            <a:ext cx="1543050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97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72F"/>
                </a:solidFill>
                <a:latin typeface="Noto Sans SC"/>
                <a:ea typeface="Noto Sans SC"/>
              </a:rPr>
              <a:t>表达精准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4006" y="1799462"/>
            <a:ext cx="951071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2043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744D9"/>
                </a:solidFill>
                <a:latin typeface="Noto Sans SC"/>
                <a:ea typeface="Noto Sans SC"/>
              </a:rPr>
              <a:t>骨架调整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6259" y="1799462"/>
            <a:ext cx="3531441" cy="111518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744D9"/>
                </a:solidFill>
                <a:latin typeface="Noto Sans SC"/>
                <a:ea typeface="Noto Sans SC"/>
              </a:rPr>
              <a:t>血肉充实</a:t>
            </a:r>
          </a:p>
          <a:p>
            <a:pPr marL="762">
              <a:spcBef>
                <a:spcPts val="1585"/>
              </a:spcBef>
            </a:pPr>
            <a:r>
              <a:rPr sz="1725" lang="zh-CN">
                <a:latin typeface="Noto Sans SC"/>
                <a:ea typeface="Noto Sans SC"/>
              </a:rPr>
              <a:t>去冗余:删除副标题、删除"主要包括"</a:t>
            </a:r>
          </a:p>
          <a:p>
            <a:pPr marL="762">
              <a:spcBef>
                <a:spcPts val="867"/>
              </a:spcBef>
            </a:pPr>
            <a:r>
              <a:rPr sz="1725" lang="zh-CN">
                <a:latin typeface="Noto Sans SC"/>
                <a:ea typeface="Noto Sans SC"/>
              </a:rPr>
              <a:t>升精准:表述更具体、术语更现代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6263" y="2290095"/>
            <a:ext cx="2708052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1C"/>
                </a:solidFill>
                <a:latin typeface="Noto Sans SC"/>
                <a:ea typeface="Noto Sans SC"/>
              </a:rPr>
              <a:t>将"课程性质与基本理念"拆分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5263" y="2657475"/>
            <a:ext cx="3089052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C"/>
                </a:solidFill>
                <a:latin typeface="Noto Sans SC"/>
                <a:ea typeface="Noto Sans SC"/>
              </a:rPr>
              <a:t>将"学科核心素养"调整为隶属关系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222" y="3572160"/>
            <a:ext cx="1513712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5447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5092C"/>
                </a:solidFill>
                <a:latin typeface="Noto Sans SC"/>
                <a:ea typeface="Noto Sans SC"/>
              </a:rPr>
              <a:t>时代呼应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306" y="3572160"/>
            <a:ext cx="1894712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5447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0000"/>
                </a:solidFill>
                <a:latin typeface="Noto Sans SC"/>
                <a:ea typeface="Noto Sans SC"/>
              </a:rPr>
              <a:t>指导性强化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669" y="4095654"/>
            <a:ext cx="980313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645E1"/>
                </a:solidFill>
                <a:latin typeface="Noto Sans SC"/>
                <a:ea typeface="Noto Sans SC"/>
              </a:rPr>
              <a:t>方向校准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6259" y="4095654"/>
            <a:ext cx="1800225" cy="111518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744DA"/>
                </a:solidFill>
                <a:latin typeface="Noto Sans SC"/>
                <a:ea typeface="Noto Sans SC"/>
              </a:rPr>
              <a:t>落地保障</a:t>
            </a:r>
          </a:p>
          <a:p>
            <a:pPr marL="762">
              <a:spcBef>
                <a:spcPts val="1584"/>
              </a:spcBef>
            </a:pPr>
            <a:r>
              <a:rPr sz="1650" lang="zh-CN">
                <a:latin typeface="Noto Sans SC"/>
                <a:ea typeface="Noto Sans SC"/>
              </a:rPr>
              <a:t>教学建议5条→6条</a:t>
            </a:r>
          </a:p>
          <a:p>
            <a:pPr marL="762">
              <a:spcBef>
                <a:spcPts val="867"/>
              </a:spcBef>
            </a:pPr>
            <a:r>
              <a:rPr sz="1650" lang="zh-CN">
                <a:latin typeface="Noto Sans SC"/>
                <a:ea typeface="Noto Sans SC"/>
              </a:rPr>
              <a:t>新增考试设计部分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178" y="4586287"/>
            <a:ext cx="1477137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/>
                <a:ea typeface="Noto Sans SC"/>
              </a:rPr>
              <a:t>AI技术写入课标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4953666"/>
            <a:ext cx="229771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/>
                <a:ea typeface="Noto Sans SC"/>
              </a:rPr>
              <a:t>向量与概率统计要求提高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2006" y="5932646"/>
            <a:ext cx="4438650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1E"/>
                </a:solidFill>
                <a:latin typeface="Noto Sans SC"/>
                <a:ea typeface="Noto Sans SC"/>
              </a:rPr>
              <a:t>最终指向:让课程标准更好地服务于教学实践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428" y="1173099"/>
            <a:ext cx="127920" cy="127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546" y="4932711"/>
            <a:ext cx="125634" cy="125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53412" y="2280094"/>
            <a:ext cx="7855934" cy="196091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1916"/>
              </a:lnSpc>
              <a:spcBef>
                <a:spcPts val="0"/>
              </a:spcBef>
              <a:spcAft>
                <a:spcPts val="0"/>
              </a:spcAft>
            </a:pPr>
            <a:r>
              <a:rPr sz="15150" b="1" i="0">
                <a:solidFill>
                  <a:srgbClr val="0D2454"/>
                </a:solidFill>
                <a:latin typeface="Noto Sans SC"/>
                <a:ea typeface="Noto Sans SC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